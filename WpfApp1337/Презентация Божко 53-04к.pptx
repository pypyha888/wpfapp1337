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22"/>
  </p:notesMasterIdLst>
  <p:sldIdLst>
    <p:sldId id="256" r:id="rId2"/>
    <p:sldId id="280" r:id="rId3"/>
    <p:sldId id="283" r:id="rId4"/>
    <p:sldId id="284" r:id="rId5"/>
    <p:sldId id="285" r:id="rId6"/>
    <p:sldId id="286" r:id="rId7"/>
    <p:sldId id="288" r:id="rId8"/>
    <p:sldId id="287" r:id="rId9"/>
    <p:sldId id="289" r:id="rId10"/>
    <p:sldId id="290" r:id="rId11"/>
    <p:sldId id="296" r:id="rId12"/>
    <p:sldId id="297" r:id="rId13"/>
    <p:sldId id="300" r:id="rId14"/>
    <p:sldId id="299" r:id="rId15"/>
    <p:sldId id="298" r:id="rId16"/>
    <p:sldId id="301" r:id="rId17"/>
    <p:sldId id="292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70" autoAdjust="0"/>
  </p:normalViewPr>
  <p:slideViewPr>
    <p:cSldViewPr snapToGrid="0">
      <p:cViewPr>
        <p:scale>
          <a:sx n="50" d="100"/>
          <a:sy n="50" d="100"/>
        </p:scale>
        <p:origin x="43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WPF-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Приложения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“</a:t>
            </a:r>
            <a:r>
              <a:rPr lang="en-US" sz="1800" dirty="0" err="1" smtClean="0">
                <a:solidFill>
                  <a:schemeClr val="bg1"/>
                </a:solidFill>
                <a:latin typeface="Segoe UI"/>
                <a:cs typeface="Segoe UI"/>
              </a:rPr>
              <a:t>TechnoShop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” (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Магазин бытовой техники)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Times New Roman"/>
                <a:cs typeface="Times New Roman"/>
              </a:rPr>
              <a:t>Божко </a:t>
            </a:r>
            <a:r>
              <a:rPr lang="ru-RU" dirty="0" smtClean="0">
                <a:solidFill>
                  <a:schemeClr val="bg1"/>
                </a:solidFill>
                <a:latin typeface="Times New Roman"/>
                <a:cs typeface="Times New Roman"/>
              </a:rPr>
              <a:t>Илья Сергеевич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 smtClean="0">
                <a:latin typeface="Times New Roman"/>
                <a:ea typeface="Arial"/>
                <a:cs typeface="Arial"/>
              </a:rPr>
              <a:t>30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.03.2026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 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- 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24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4333461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dirty="0" smtClean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Место прохождения</a:t>
            </a:r>
            <a:r>
              <a:rPr lang="ru-RU" sz="2000" dirty="0" smtClean="0">
                <a:latin typeface="Times New Roman"/>
                <a:ea typeface="Arial"/>
                <a:cs typeface="Arial"/>
              </a:rPr>
              <a:t>​</a:t>
            </a:r>
            <a:endParaRPr lang="ru-RU" sz="2000" dirty="0">
              <a:latin typeface="Times New Roman"/>
              <a:ea typeface="Arial"/>
              <a:cs typeface="Arial"/>
            </a:endParaRPr>
          </a:p>
          <a:p>
            <a:pPr rtl="0"/>
            <a:r>
              <a:rPr lang="ru-RU" sz="1600" dirty="0" smtClean="0">
                <a:latin typeface="Times New Roman"/>
                <a:cs typeface="Arial"/>
              </a:rPr>
              <a:t>Учебная аудитория </a:t>
            </a:r>
            <a:r>
              <a:rPr lang="en-US" sz="1600" dirty="0" smtClean="0">
                <a:latin typeface="Times New Roman"/>
                <a:cs typeface="Arial"/>
              </a:rPr>
              <a:t>/ </a:t>
            </a:r>
            <a:r>
              <a:rPr lang="ru-RU" sz="1600" dirty="0" smtClean="0">
                <a:latin typeface="Times New Roman"/>
                <a:cs typeface="Arial"/>
              </a:rPr>
              <a:t>дистанционно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  <p:sp>
        <p:nvSpPr>
          <p:cNvPr id="8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243264" y="4412233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130303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rtl="0"/>
            <a:r>
              <a:rPr lang="ru-RU" sz="1600" dirty="0">
                <a:latin typeface="Times New Roman"/>
                <a:ea typeface="Arial"/>
                <a:cs typeface="Arial"/>
              </a:rPr>
              <a:t>Р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азработка </a:t>
            </a:r>
            <a:r>
              <a:rPr lang="en-US" sz="1600" dirty="0" smtClean="0">
                <a:latin typeface="Times New Roman"/>
                <a:ea typeface="Arial"/>
                <a:cs typeface="Arial"/>
              </a:rPr>
              <a:t>WPF-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приложения на базе </a:t>
            </a:r>
            <a:r>
              <a:rPr lang="en-US" sz="1600" dirty="0" smtClean="0">
                <a:latin typeface="Times New Roman"/>
                <a:ea typeface="Arial"/>
                <a:cs typeface="Arial"/>
              </a:rPr>
              <a:t>.NET Framework 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для магазина бытовой техники </a:t>
            </a:r>
            <a:r>
              <a:rPr lang="en-US" sz="1600" dirty="0" err="1" smtClean="0">
                <a:latin typeface="Times New Roman"/>
                <a:ea typeface="Arial"/>
                <a:cs typeface="Arial"/>
              </a:rPr>
              <a:t>TechnoShOP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23991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baseline="0" dirty="0" smtClean="0">
                <a:latin typeface="Times New Roman"/>
                <a:ea typeface="Segoe UI"/>
                <a:cs typeface="Segoe UI"/>
              </a:rPr>
              <a:t>Разработать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 </a:t>
            </a:r>
            <a:r>
              <a:rPr lang="en-US" sz="1600" dirty="0" smtClean="0">
                <a:latin typeface="Times New Roman"/>
                <a:ea typeface="Segoe UI"/>
                <a:cs typeface="Segoe UI"/>
              </a:rPr>
              <a:t>WPF-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приложение магазина бытовой техники </a:t>
            </a:r>
            <a:r>
              <a:rPr lang="en-US" sz="1600" dirty="0" err="1" smtClean="0">
                <a:latin typeface="Times New Roman"/>
                <a:ea typeface="Segoe UI"/>
                <a:cs typeface="Segoe UI"/>
              </a:rPr>
              <a:t>TechnoShop</a:t>
            </a:r>
            <a:r>
              <a:rPr lang="en-US" sz="1600" dirty="0" smtClean="0">
                <a:latin typeface="Times New Roman"/>
                <a:ea typeface="Segoe UI"/>
                <a:cs typeface="Segoe UI"/>
              </a:rPr>
              <a:t> 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с системной управление товарами, заказами и пользователями.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0" y="4120813"/>
            <a:ext cx="1243337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</a:t>
            </a:r>
            <a:r>
              <a:rPr lang="ru-RU" sz="1600" dirty="0" smtClean="0"/>
              <a:t>и настройка базы данных в </a:t>
            </a:r>
            <a:r>
              <a:rPr lang="en-US" sz="1600" dirty="0" smtClean="0"/>
              <a:t>MS SQL Server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Проектирование </a:t>
            </a:r>
            <a:r>
              <a:rPr lang="en-US" sz="1600" dirty="0" smtClean="0"/>
              <a:t>ER-</a:t>
            </a:r>
            <a:r>
              <a:rPr lang="ru-RU" sz="1600" dirty="0" smtClean="0"/>
              <a:t>модели и логической схемы БД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Разработка пользовательского интерфейса на </a:t>
            </a:r>
            <a:r>
              <a:rPr lang="en-US" sz="1600" dirty="0" smtClean="0"/>
              <a:t>WPF</a:t>
            </a:r>
            <a:r>
              <a:rPr lang="ru-RU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Реализация авторизации, регистрации и ролей(Покупатель</a:t>
            </a:r>
            <a:r>
              <a:rPr lang="en-US" sz="1600" dirty="0" smtClean="0"/>
              <a:t>/</a:t>
            </a:r>
            <a:r>
              <a:rPr lang="ru-RU" sz="1600" dirty="0" smtClean="0"/>
              <a:t>Менеджер</a:t>
            </a:r>
            <a:r>
              <a:rPr lang="en-US" sz="1600" dirty="0" smtClean="0"/>
              <a:t>/</a:t>
            </a:r>
            <a:r>
              <a:rPr lang="ru-RU" sz="1600" dirty="0" smtClean="0"/>
              <a:t>Администратор)</a:t>
            </a:r>
            <a:r>
              <a:rPr lang="en-US" sz="16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Разработка каталога, корзины, избранного и истории заказов</a:t>
            </a:r>
            <a:r>
              <a:rPr lang="en-US" sz="1600" dirty="0" smtClean="0"/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Генерация </a:t>
            </a:r>
            <a:r>
              <a:rPr lang="en-US" sz="1600" dirty="0" smtClean="0"/>
              <a:t>PDF-</a:t>
            </a:r>
            <a:r>
              <a:rPr lang="ru-RU" sz="1600" dirty="0" smtClean="0"/>
              <a:t>чека с </a:t>
            </a:r>
            <a:r>
              <a:rPr lang="en-US" sz="1600" dirty="0" smtClean="0"/>
              <a:t>QR</a:t>
            </a:r>
            <a:r>
              <a:rPr lang="ru-RU" sz="1600" dirty="0" smtClean="0"/>
              <a:t>-кодом при оформлении заказа.</a:t>
            </a:r>
            <a:endParaRPr lang="ru-RU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Проектирование базы данных</a:t>
            </a:r>
            <a:endParaRPr lang="ru-RU" sz="3200" b="1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30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31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09600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ea typeface="Segoe UI"/>
                <a:cs typeface="Segoe UI"/>
              </a:rPr>
              <a:t>Проанализирована предметная область 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(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магазин бытовой техники</a:t>
            </a:r>
            <a:r>
              <a:rPr lang="ru-RU" sz="1600" dirty="0" smtClean="0">
                <a:latin typeface="Times New Roman"/>
                <a:ea typeface="Segoe UI"/>
                <a:cs typeface="Segoe UI"/>
              </a:rPr>
              <a:t>);</a:t>
            </a:r>
            <a:endParaRPr lang="ru-RU" sz="1600" dirty="0">
              <a:latin typeface="Times New Roman"/>
              <a:ea typeface="Segoe U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Определены основные сущности: </a:t>
            </a:r>
            <a:r>
              <a:rPr lang="ru-RU" sz="1600" dirty="0" smtClean="0"/>
              <a:t>пользователи,роли,товары,категории,поставщики,корзина,заказы,избранное;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Разработана </a:t>
            </a:r>
            <a:r>
              <a:rPr lang="en-US" sz="1600" dirty="0" smtClean="0"/>
              <a:t>ER-</a:t>
            </a:r>
            <a:r>
              <a:rPr lang="ru-RU" sz="1600" dirty="0" smtClean="0"/>
              <a:t>модель с бинарными </a:t>
            </a:r>
            <a:r>
              <a:rPr lang="ru-RU" sz="1600" dirty="0" err="1" smtClean="0"/>
              <a:t>отношенями</a:t>
            </a:r>
            <a:r>
              <a:rPr lang="ru-RU" sz="1600" dirty="0" smtClean="0"/>
              <a:t> между сущностями;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Настроены связи между </a:t>
            </a:r>
            <a:r>
              <a:rPr lang="ru-RU" sz="1600" dirty="0" smtClean="0"/>
              <a:t>таблицами(</a:t>
            </a:r>
            <a:r>
              <a:rPr lang="en-US" sz="1600" dirty="0" smtClean="0"/>
              <a:t>FK,PK</a:t>
            </a:r>
            <a:r>
              <a:rPr lang="ru-RU" sz="1600" dirty="0" smtClean="0"/>
              <a:t>;</a:t>
            </a:r>
            <a:endParaRPr lang="ru-RU" sz="1600" dirty="0">
              <a:latin typeface="Times New Roman"/>
              <a:ea typeface="Segoe UI"/>
              <a:cs typeface="Segoe UI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4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260971" y="2292509"/>
            <a:ext cx="4708529" cy="401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6091923" cy="96963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Создание базы данных и настройка окружения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4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239788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Создана БД </a:t>
            </a:r>
            <a:r>
              <a:rPr lang="en-US" sz="1600" dirty="0" err="1" smtClean="0">
                <a:latin typeface="Times New Roman"/>
                <a:cs typeface="Segoe UI"/>
              </a:rPr>
              <a:t>TechnoShopDB</a:t>
            </a:r>
            <a:r>
              <a:rPr lang="en-US" sz="1600" dirty="0" smtClean="0">
                <a:latin typeface="Times New Roman"/>
                <a:cs typeface="Segoe UI"/>
              </a:rPr>
              <a:t> </a:t>
            </a:r>
            <a:r>
              <a:rPr lang="ru-RU" sz="1600" dirty="0" smtClean="0">
                <a:latin typeface="Times New Roman"/>
                <a:cs typeface="Segoe UI"/>
              </a:rPr>
              <a:t>в </a:t>
            </a:r>
            <a:r>
              <a:rPr lang="en-US" sz="1600" dirty="0" smtClean="0">
                <a:latin typeface="Times New Roman"/>
                <a:cs typeface="Segoe UI"/>
              </a:rPr>
              <a:t>MS SQL SERVER(</a:t>
            </a:r>
            <a:r>
              <a:rPr lang="en-US" sz="1600" dirty="0" err="1" smtClean="0">
                <a:latin typeface="Times New Roman"/>
                <a:cs typeface="Segoe UI"/>
              </a:rPr>
              <a:t>LocalDB</a:t>
            </a:r>
            <a:r>
              <a:rPr lang="en-US" sz="1600" dirty="0" smtClean="0">
                <a:latin typeface="Times New Roman"/>
                <a:cs typeface="Segoe UI"/>
              </a:rPr>
              <a:t>);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таблицы: </a:t>
            </a:r>
            <a:r>
              <a:rPr lang="en-US" sz="1600" dirty="0" smtClean="0">
                <a:latin typeface="Times New Roman"/>
                <a:cs typeface="Segoe UI"/>
              </a:rPr>
              <a:t>Users,Roles,Products,Categories,Suppliers,Cart,Orders,Favorites,SupplierProducts;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Настроены первичные и внешние ключи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Таблица заполнена текстовыми данными(</a:t>
            </a:r>
            <a:r>
              <a:rPr lang="ru-RU" sz="1600" dirty="0" err="1" smtClean="0">
                <a:latin typeface="Times New Roman"/>
                <a:cs typeface="Segoe UI"/>
              </a:rPr>
              <a:t>товары,категории,пользователи</a:t>
            </a:r>
            <a:r>
              <a:rPr lang="ru-RU" sz="1600" dirty="0" smtClean="0">
                <a:latin typeface="Times New Roman"/>
                <a:cs typeface="Segoe UI"/>
              </a:rPr>
              <a:t>).</a:t>
            </a:r>
            <a:endParaRPr lang="en-US" sz="1600" dirty="0">
              <a:latin typeface="Times New Roman"/>
              <a:cs typeface="Segoe U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/>
              <a:t>База данных создана и заполнена начальными данными.</a:t>
            </a:r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2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570648" y="472356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797817" y="5082070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48" y="2951959"/>
            <a:ext cx="1705213" cy="153373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1487479"/>
            <a:ext cx="5586924" cy="34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642600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</a:t>
            </a:r>
            <a:r>
              <a:rPr lang="ru-RU" sz="3200" b="1" dirty="0" smtClean="0">
                <a:latin typeface="Times New Roman"/>
                <a:cs typeface="Times New Roman"/>
              </a:rPr>
              <a:t>Настройка </a:t>
            </a:r>
            <a:r>
              <a:rPr lang="en-US" sz="3200" b="1" dirty="0" smtClean="0">
                <a:latin typeface="Times New Roman"/>
                <a:cs typeface="Times New Roman"/>
              </a:rPr>
              <a:t>WPF-</a:t>
            </a:r>
            <a:r>
              <a:rPr lang="ru-RU" sz="3200" b="1" dirty="0" smtClean="0">
                <a:latin typeface="Times New Roman"/>
                <a:cs typeface="Times New Roman"/>
              </a:rPr>
              <a:t>проекта и подключение к БД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5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9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Создан </a:t>
            </a:r>
            <a:r>
              <a:rPr lang="en-US" sz="1600" dirty="0" smtClean="0"/>
              <a:t>WPF-</a:t>
            </a:r>
            <a:r>
              <a:rPr lang="ru-RU" sz="1600" dirty="0" smtClean="0"/>
              <a:t>проект на </a:t>
            </a:r>
            <a:r>
              <a:rPr lang="en-US" sz="1600" dirty="0" smtClean="0"/>
              <a:t>.NET Framework 4.8 </a:t>
            </a:r>
            <a:r>
              <a:rPr lang="ru-RU" sz="1600" dirty="0" smtClean="0"/>
              <a:t>в </a:t>
            </a:r>
            <a:r>
              <a:rPr lang="en-US" sz="1600" dirty="0" smtClean="0"/>
              <a:t>Visual Studio</a:t>
            </a:r>
            <a:r>
              <a:rPr lang="en-US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Подключен </a:t>
            </a:r>
            <a:r>
              <a:rPr lang="en-US" sz="1600" dirty="0" smtClean="0"/>
              <a:t>Entity Framework Core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Создан класс </a:t>
            </a:r>
            <a:r>
              <a:rPr lang="en-US" sz="1600" dirty="0" err="1" smtClean="0"/>
              <a:t>AppConnect</a:t>
            </a:r>
            <a:r>
              <a:rPr lang="en-US" sz="1600" dirty="0" smtClean="0"/>
              <a:t> </a:t>
            </a:r>
            <a:r>
              <a:rPr lang="ru-RU" sz="1600" dirty="0" smtClean="0"/>
              <a:t>для единого доступа к контексту БД</a:t>
            </a:r>
            <a:r>
              <a:rPr lang="en-US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Подключены </a:t>
            </a:r>
            <a:r>
              <a:rPr lang="en-US" sz="1600" dirty="0" err="1" smtClean="0"/>
              <a:t>NuGet</a:t>
            </a:r>
            <a:r>
              <a:rPr lang="en-US" sz="1600" dirty="0" smtClean="0"/>
              <a:t>-</a:t>
            </a:r>
            <a:r>
              <a:rPr lang="ru-RU" sz="1600" dirty="0" smtClean="0"/>
              <a:t>пакеты</a:t>
            </a:r>
            <a:r>
              <a:rPr lang="en-US" sz="1600" dirty="0" smtClean="0"/>
              <a:t>:</a:t>
            </a:r>
            <a:r>
              <a:rPr lang="en-US" sz="1600" dirty="0" err="1" smtClean="0"/>
              <a:t>PdfSharp,QRcoder</a:t>
            </a:r>
            <a:r>
              <a:rPr lang="ru-RU" sz="1600" dirty="0" smtClean="0"/>
              <a:t>;</a:t>
            </a:r>
            <a:endParaRPr lang="ru-RU" sz="1600" dirty="0"/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817245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 dirty="0" err="1">
                <a:solidFill>
                  <a:srgbClr val="0891B2"/>
                </a:solidFill>
                <a:cs typeface="Segoe UI"/>
              </a:rPr>
              <a:t>Результат</a:t>
            </a:r>
            <a:r>
              <a:rPr lang="en-US" sz="1400" b="1" dirty="0">
                <a:solidFill>
                  <a:srgbClr val="0891B2"/>
                </a:solidFill>
                <a:cs typeface="Segoe UI"/>
              </a:rPr>
              <a:t>:</a:t>
            </a:r>
            <a:r>
              <a:rPr lang="en-US" sz="1400" dirty="0">
                <a:solidFill>
                  <a:srgbClr val="0891B2"/>
                </a:solidFill>
                <a:cs typeface="Segoe UI"/>
              </a:rPr>
              <a:t> </a:t>
            </a:r>
            <a:endParaRPr lang="en-US" sz="1400" dirty="0">
              <a:solidFill>
                <a:srgbClr val="0891B2"/>
              </a:solidFill>
              <a:cs typeface="Times New Roman"/>
            </a:endParaRPr>
          </a:p>
          <a:p>
            <a:r>
              <a:rPr lang="ru-RU" sz="1400" dirty="0" smtClean="0"/>
              <a:t>Проект успешно подключен к базе данных </a:t>
            </a:r>
            <a:r>
              <a:rPr lang="en-US" sz="1400" dirty="0" err="1" smtClean="0"/>
              <a:t>TechoShopDB</a:t>
            </a:r>
            <a:r>
              <a:rPr lang="ru-RU" sz="1400" dirty="0" smtClean="0"/>
              <a:t>.</a:t>
            </a:r>
            <a:endParaRPr lang="ru-RU" sz="1400" dirty="0"/>
          </a:p>
          <a:p>
            <a:r>
              <a:rPr lang="ru-RU" sz="1400" b="1" dirty="0">
                <a:cs typeface="Times New Roman"/>
              </a:rPr>
              <a:t>Скриншот на сл. 8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458675" y="4335150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866906" y="5856926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676" y="3210132"/>
            <a:ext cx="2410161" cy="9050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185" y="1300252"/>
            <a:ext cx="2872102" cy="43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8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050349" cy="8893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4: </a:t>
            </a:r>
            <a:r>
              <a:rPr lang="ru-RU" sz="3200" b="1" dirty="0" smtClean="0">
                <a:latin typeface="Times New Roman"/>
                <a:cs typeface="Times New Roman"/>
              </a:rPr>
              <a:t>Разработка авторизации и регистрации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10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14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страница регистрации(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Reg.xaml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валидацией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полей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визуальная подсветка пароля(красный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зеленый);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страница авторизации(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Authorization.xaml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логина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пароля через БД;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Текущий пользователь сохраняется в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AppConnect.CurrentUser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4222774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ru-RU" dirty="0">
              <a:solidFill>
                <a:srgbClr val="0891B2"/>
              </a:solidFill>
              <a:latin typeface="Times New Roman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 smtClean="0"/>
              <a:t>Реализована система авторизации и регистрации</a:t>
            </a:r>
            <a:endParaRPr lang="ru-RU" sz="1600" dirty="0"/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10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7B1A1-F5F5-D20E-B32C-CF868DAD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79" y="-13804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Отработана корректность удаления клиента (тестирование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DELETE CASCADE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1D2-C706-4544-F46B-BEB5C0AF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BC9A27-E79D-A467-07C0-951E4739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4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2432046" y="5428025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810AF-4B0F-876E-D7DE-EF2C26028AB1}"/>
              </a:ext>
            </a:extLst>
          </p:cNvPr>
          <p:cNvSpPr txBox="1"/>
          <p:nvPr/>
        </p:nvSpPr>
        <p:spPr>
          <a:xfrm>
            <a:off x="8665117" y="5382217"/>
            <a:ext cx="14765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B526A-1563-5476-B248-035EB61062A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10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933934"/>
            <a:ext cx="4711987" cy="322941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88" y="1715071"/>
            <a:ext cx="5508297" cy="366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050349" cy="8893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 smtClean="0">
                <a:latin typeface="Times New Roman"/>
                <a:cs typeface="Times New Roman"/>
              </a:rPr>
              <a:t>5: Разработка каталога товаров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17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страница каталога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PageCatalog.xaml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DataGrid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поиск по названию и бренду в реальном времени;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фильтрация по категории и сортировка по цене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разграничение прав: кнопки добавить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изменить видны только Менеджеру и Администратору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кнопки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корзину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Избранное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4222774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ru-RU" dirty="0">
              <a:solidFill>
                <a:srgbClr val="0891B2"/>
              </a:solidFill>
              <a:latin typeface="Times New Roman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Каталог товаров с фильтрацией и сортировкой реализованы.</a:t>
            </a:r>
            <a:endParaRPr lang="ru-RU" sz="1600" dirty="0"/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10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11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96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1D2-C706-4544-F46B-BEB5C0AF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BC9A27-E79D-A467-07C0-951E4739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5</a:t>
            </a:r>
            <a:r>
              <a:rPr lang="ru-RU" sz="3200" b="1" dirty="0">
                <a:latin typeface="Times New Roman"/>
                <a:cs typeface="Times New Roman"/>
              </a:rPr>
              <a:t>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4970832" y="5984578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B526A-1563-5476-B248-035EB61062A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772" y="2020137"/>
            <a:ext cx="6526081" cy="358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050349" cy="8893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>
                <a:latin typeface="Times New Roman"/>
                <a:cs typeface="Times New Roman"/>
              </a:rPr>
              <a:t>6</a:t>
            </a:r>
            <a:r>
              <a:rPr lang="ru-RU" sz="3200" b="1" dirty="0" smtClean="0">
                <a:latin typeface="Times New Roman"/>
                <a:cs typeface="Times New Roman"/>
              </a:rPr>
              <a:t>: Корзина и оформление заказа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18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20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страница корзины(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PageCart.xaml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Товары добавляются из каталога, при повторном добавлении увеличивается количество;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автоматическое вычисление итоговой суммы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оформлении заказа товары переносятся в таблицу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Orders;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Генерируется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чек 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кодом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PdfSharp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Qrcoder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сохраняется на рабочий стол при выборе.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4222774" cy="1225868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ru-RU" dirty="0">
              <a:solidFill>
                <a:srgbClr val="0891B2"/>
              </a:solidFill>
              <a:latin typeface="Times New Roman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Корзина и генерация 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PDF</a:t>
            </a:r>
            <a:r>
              <a:rPr lang="ru-RU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-чека реализованы</a:t>
            </a:r>
            <a:endParaRPr lang="ru-RU" sz="1600" dirty="0"/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10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034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1D2-C706-4544-F46B-BEB5C0AF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BC9A27-E79D-A467-07C0-951E4739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5</a:t>
            </a:r>
            <a:r>
              <a:rPr lang="ru-RU" sz="3200" b="1" dirty="0">
                <a:latin typeface="Times New Roman"/>
                <a:cs typeface="Times New Roman"/>
              </a:rPr>
              <a:t>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1145058" y="4743823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B526A-1563-5476-B248-035EB61062A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14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5034567" y="4572373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8531163" y="5082377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2690"/>
            <a:ext cx="4395611" cy="24007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214" y="2699990"/>
            <a:ext cx="2238687" cy="168616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83" y="2221434"/>
            <a:ext cx="3881940" cy="283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7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050349" cy="8893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 smtClean="0">
                <a:latin typeface="Times New Roman"/>
                <a:cs typeface="Times New Roman"/>
              </a:rPr>
              <a:t>7: Избранное, профиль и панель администратора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23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Избранное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добавление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товаров, переброс в корзину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профиля –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аватар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из первой буквы имени, история заказов с цветными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бейджами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статусов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администратора – управление ролями пользователей, просмотр всех заказов и поставщиков (3 вкладки)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добавления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редактирования товаров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AddRecip.xaml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4222774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ru-RU" dirty="0">
              <a:solidFill>
                <a:srgbClr val="0891B2"/>
              </a:solidFill>
              <a:latin typeface="Times New Roman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Все основные страницы приложения реализованы</a:t>
            </a:r>
            <a:endParaRPr lang="ru-RU" sz="1600" dirty="0"/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10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20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1D2-C706-4544-F46B-BEB5C0AF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BC9A27-E79D-A467-07C0-951E4739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5</a:t>
            </a:r>
            <a:r>
              <a:rPr lang="ru-RU" sz="3200" b="1" dirty="0">
                <a:latin typeface="Times New Roman"/>
                <a:cs typeface="Times New Roman"/>
              </a:rPr>
              <a:t>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1145058" y="4743823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B526A-1563-5476-B248-035EB61062A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16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5009694" y="4743823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9280703" y="4743823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1400"/>
            <a:ext cx="3926137" cy="213097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02" y="3629790"/>
            <a:ext cx="3672719" cy="73689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386" y="3629790"/>
            <a:ext cx="4296614" cy="64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1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-1"/>
            <a:ext cx="5257800" cy="856357"/>
          </a:xfrm>
        </p:spPr>
        <p:txBody>
          <a:bodyPr>
            <a:normAutofit fontScale="90000"/>
          </a:bodyPr>
          <a:lstStyle/>
          <a:p>
            <a:r>
              <a:rPr lang="ru-RU" sz="4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4152900" y="864741"/>
            <a:ext cx="430530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Проектирование БД</a:t>
            </a:r>
            <a:br>
              <a:rPr lang="ru-RU" sz="1600" dirty="0" smtClean="0"/>
            </a:br>
            <a:r>
              <a:rPr lang="en-US" sz="1600" dirty="0" smtClean="0"/>
              <a:t>ER-</a:t>
            </a:r>
            <a:r>
              <a:rPr lang="ru-RU" sz="1600" dirty="0" smtClean="0"/>
              <a:t>моделирование</a:t>
            </a:r>
            <a:br>
              <a:rPr lang="ru-RU" sz="1600" dirty="0" smtClean="0"/>
            </a:br>
            <a:r>
              <a:rPr lang="ru-RU" sz="1600" dirty="0" smtClean="0"/>
              <a:t>Логическая и физическая схема</a:t>
            </a:r>
            <a:br>
              <a:rPr lang="ru-RU" sz="1600" dirty="0" smtClean="0"/>
            </a:br>
            <a:r>
              <a:rPr lang="en-US" sz="1600" dirty="0" smtClean="0"/>
              <a:t>MS SQL Server, SSMS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 smtClean="0"/>
              <a:t>WPF </a:t>
            </a:r>
            <a:r>
              <a:rPr lang="ru-RU" sz="1600" dirty="0" smtClean="0"/>
              <a:t>и </a:t>
            </a:r>
            <a:r>
              <a:rPr lang="en-US" sz="1600" dirty="0" smtClean="0"/>
              <a:t>XAML</a:t>
            </a:r>
            <a:br>
              <a:rPr lang="en-US" sz="1600" dirty="0" smtClean="0"/>
            </a:br>
            <a:r>
              <a:rPr lang="ru-RU" sz="1600" dirty="0" smtClean="0"/>
              <a:t>Разработка интерфейса</a:t>
            </a:r>
            <a:br>
              <a:rPr lang="ru-RU" sz="1600" dirty="0" smtClean="0"/>
            </a:br>
            <a:r>
              <a:rPr lang="en-US" sz="1600" dirty="0" err="1" smtClean="0"/>
              <a:t>NavigationService,Frame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Global </a:t>
            </a:r>
            <a:r>
              <a:rPr lang="ru-RU" sz="1600" dirty="0" smtClean="0"/>
              <a:t>стили через </a:t>
            </a:r>
            <a:r>
              <a:rPr lang="en-US" sz="1600" dirty="0" err="1" smtClean="0"/>
              <a:t>App.xaml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 smtClean="0"/>
              <a:t>Entity Framework</a:t>
            </a:r>
            <a:br>
              <a:rPr lang="en-US" sz="1600" dirty="0" smtClean="0"/>
            </a:br>
            <a:r>
              <a:rPr lang="en-US" sz="1600" dirty="0" smtClean="0"/>
              <a:t>Database First(.</a:t>
            </a:r>
            <a:r>
              <a:rPr lang="en-US" sz="1600" dirty="0" err="1" smtClean="0"/>
              <a:t>edxm</a:t>
            </a:r>
            <a:r>
              <a:rPr lang="en-US" sz="1600" dirty="0" smtClean="0"/>
              <a:t>) / Core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err="1" smtClean="0"/>
              <a:t>DbContext,DbSet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Crud-</a:t>
            </a:r>
            <a:r>
              <a:rPr lang="ru-RU" sz="1600" dirty="0" smtClean="0"/>
              <a:t>Операции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Дополнительно</a:t>
            </a:r>
            <a:br>
              <a:rPr lang="ru-RU" sz="1600" dirty="0" smtClean="0"/>
            </a:br>
            <a:r>
              <a:rPr lang="ru-RU" sz="1600" dirty="0" smtClean="0"/>
              <a:t>Генерация </a:t>
            </a:r>
            <a:r>
              <a:rPr lang="en-US" sz="1600" dirty="0" smtClean="0"/>
              <a:t>PDF(</a:t>
            </a:r>
            <a:r>
              <a:rPr lang="en-US" sz="1600" dirty="0" err="1" smtClean="0"/>
              <a:t>PdfSharp</a:t>
            </a:r>
            <a:r>
              <a:rPr lang="en-US" sz="1600" dirty="0" smtClean="0"/>
              <a:t>)</a:t>
            </a:r>
            <a:endParaRPr lang="ru-RU" sz="1600" dirty="0" smtClean="0"/>
          </a:p>
          <a:p>
            <a:pPr>
              <a:lnSpc>
                <a:spcPct val="150000"/>
              </a:lnSpc>
            </a:pPr>
            <a:r>
              <a:rPr lang="en-US" sz="1600" dirty="0"/>
              <a:t> </a:t>
            </a:r>
            <a:r>
              <a:rPr lang="en-US" sz="1600" dirty="0" smtClean="0"/>
              <a:t>     QR-</a:t>
            </a:r>
            <a:r>
              <a:rPr lang="ru-RU" sz="1600" dirty="0" smtClean="0"/>
              <a:t>код(</a:t>
            </a:r>
            <a:r>
              <a:rPr lang="en-US" sz="1600" dirty="0" err="1" smtClean="0"/>
              <a:t>Qrcoder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ru-RU" sz="1600" dirty="0" smtClean="0"/>
              <a:t>       Роли и разграничение прав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17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653" y="39160"/>
            <a:ext cx="4816602" cy="722770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373576" y="1223103"/>
            <a:ext cx="8692554" cy="688766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73576" y="1243953"/>
            <a:ext cx="730225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WPF-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TechnoShop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бытовой техники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18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373576" y="2233212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33733" y="2239514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из 9 таблиц в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73576" y="3073437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373576" y="311462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интерфейс с единой цветовой темой;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73578" y="4681329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373574" y="47560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 с генерацией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PDF-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чека и 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кодом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73577" y="3812511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373575" y="3864426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ролей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Покупатель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</a:t>
            </a:r>
            <a:r>
              <a:rPr lang="en-US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73576" y="5575713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373578" y="5520237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Пройдено тестирование всех основных пользовательских сценариев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3921252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1968606" y="1959181"/>
            <a:ext cx="826324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В ходе учебной практики (30.03.2026 – 24.04.2026) было разработано полноценное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WPF 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приложение на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.NET Framework 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для магазина бытовой техники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Techno Shop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cs typeface="Times New Roman"/>
              </a:rPr>
              <a:t>. Освоены навыки проектирования, разработки и тестирования программного обеспечения.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ru-RU" dirty="0" smtClean="0">
                <a:latin typeface="Times New Roman"/>
                <a:cs typeface="Times New Roman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 – авторизация, каталог товаров, корзина, избранное, оформление заказов и генерации </a:t>
            </a:r>
            <a:r>
              <a:rPr lang="en-US" dirty="0" smtClean="0">
                <a:latin typeface="Times New Roman"/>
                <a:cs typeface="Times New Roman"/>
              </a:rPr>
              <a:t>PDF-</a:t>
            </a:r>
            <a:r>
              <a:rPr lang="ru-RU" dirty="0" smtClean="0">
                <a:latin typeface="Times New Roman"/>
                <a:cs typeface="Times New Roman"/>
              </a:rPr>
              <a:t>чека.</a:t>
            </a:r>
            <a:endParaRPr lang="ru-RU" dirty="0">
              <a:latin typeface="Times New Roman"/>
              <a:cs typeface="Times New Roman"/>
            </a:endParaRPr>
          </a:p>
          <a:p>
            <a:pPr algn="just"/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ru-RU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В результате были закреплены теоретические знания и </a:t>
            </a:r>
            <a:r>
              <a:rPr lang="ru-RU" dirty="0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получены </a:t>
            </a:r>
            <a:r>
              <a:rPr lang="ru-RU" dirty="0" err="1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крактические</a:t>
            </a:r>
            <a:r>
              <a:rPr lang="ru-RU" dirty="0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навыки разработки </a:t>
            </a:r>
            <a:r>
              <a:rPr lang="ru-RU" dirty="0" err="1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десктопных</a:t>
            </a:r>
            <a:r>
              <a:rPr lang="ru-RU" dirty="0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приложений, работы с базами данных и </a:t>
            </a:r>
            <a:r>
              <a:rPr lang="en-US" dirty="0" smtClean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Entity Framework.</a:t>
            </a:r>
            <a:endParaRPr lang="ru-RU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algn="just"/>
            <a:endParaRPr lang="ru-RU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WPF-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приложение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“</a:t>
            </a:r>
            <a:r>
              <a:rPr lang="en-US" sz="1800" dirty="0" err="1" smtClean="0">
                <a:solidFill>
                  <a:schemeClr val="bg1"/>
                </a:solidFill>
                <a:latin typeface="Segoe UI"/>
                <a:cs typeface="Segoe UI"/>
              </a:rPr>
              <a:t>TechnoShop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”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(Магазин бытовой техники)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Times New Roman"/>
                <a:cs typeface="Times New Roman"/>
              </a:rPr>
              <a:t>Божко </a:t>
            </a:r>
            <a:r>
              <a:rPr lang="ru-RU" dirty="0" smtClean="0">
                <a:solidFill>
                  <a:schemeClr val="bg1"/>
                </a:solidFill>
                <a:latin typeface="Times New Roman"/>
                <a:cs typeface="Times New Roman"/>
              </a:rPr>
              <a:t>Илья Сергеевич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7811</TotalTime>
  <Words>949</Words>
  <Application>Microsoft Office PowerPoint</Application>
  <PresentationFormat>Широкоэкранный</PresentationFormat>
  <Paragraphs>150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Arial Unicode MS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WPF-Приложения “TechnoShop” (Магазин бытовой техники)</vt:lpstr>
      <vt:lpstr>Информация о практике</vt:lpstr>
      <vt:lpstr>Цели и задачи практики</vt:lpstr>
      <vt:lpstr>Этап 1: Проектирование базы данных</vt:lpstr>
      <vt:lpstr>Этап 2: Создание базы данных и настройка окружения</vt:lpstr>
      <vt:lpstr>Результаты этапа 2 : </vt:lpstr>
      <vt:lpstr>Этап 3: Настройка WPF-проекта и подключение к БД</vt:lpstr>
      <vt:lpstr>Результаты этапа 3 : </vt:lpstr>
      <vt:lpstr>Этап 4: Разработка авторизации и регистрации</vt:lpstr>
      <vt:lpstr>Результаты этапа 4 : </vt:lpstr>
      <vt:lpstr>Этап 5: Разработка каталога товаров</vt:lpstr>
      <vt:lpstr>Результаты этапа 5 : </vt:lpstr>
      <vt:lpstr>Этап 6: Корзина и оформление заказа</vt:lpstr>
      <vt:lpstr>Результаты этапа 5 : </vt:lpstr>
      <vt:lpstr>Этап 7: Избранное, профиль и панель администратора</vt:lpstr>
      <vt:lpstr>Результаты этапа 5 : 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WPF-приложение “TechnoShop” (Магазин бытовой техники)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Божко Илья Сергеевич</cp:lastModifiedBy>
  <cp:revision>874</cp:revision>
  <dcterms:created xsi:type="dcterms:W3CDTF">2023-01-30T07:02:12Z</dcterms:created>
  <dcterms:modified xsi:type="dcterms:W3CDTF">2026-04-24T08:30:10Z</dcterms:modified>
</cp:coreProperties>
</file>